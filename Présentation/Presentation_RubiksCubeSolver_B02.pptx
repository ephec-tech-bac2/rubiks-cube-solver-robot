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A2BF91-76A2-4F65-9184-CDC4BA89AE1D}">
  <a:tblStyle styleId="{1AA2BF91-76A2-4F65-9184-CDC4BA89AE1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imgs/p09_i0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20" y="0"/>
            <a:ext cx="338328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1A1A2E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502920"/>
            <a:ext cx="201168" cy="201168"/>
          </a:xfrm>
          <a:prstGeom prst="roundRect">
            <a:avLst>
              <a:gd fmla="val 9091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04672" y="502920"/>
            <a:ext cx="201168" cy="201168"/>
          </a:xfrm>
          <a:prstGeom prst="roundRect">
            <a:avLst>
              <a:gd fmla="val 9091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060704" y="502920"/>
            <a:ext cx="201168" cy="201168"/>
          </a:xfrm>
          <a:prstGeom prst="roundRect">
            <a:avLst>
              <a:gd fmla="val 9091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48640" y="758952"/>
            <a:ext cx="201168" cy="201168"/>
          </a:xfrm>
          <a:prstGeom prst="roundRect">
            <a:avLst>
              <a:gd fmla="val 9091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04672" y="758952"/>
            <a:ext cx="201168" cy="201168"/>
          </a:xfrm>
          <a:prstGeom prst="roundRect">
            <a:avLst>
              <a:gd fmla="val 9091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060704" y="758952"/>
            <a:ext cx="201168" cy="201168"/>
          </a:xfrm>
          <a:prstGeom prst="roundRect">
            <a:avLst>
              <a:gd fmla="val 9091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48640" y="1014984"/>
            <a:ext cx="201168" cy="201168"/>
          </a:xfrm>
          <a:prstGeom prst="roundRect">
            <a:avLst>
              <a:gd fmla="val 9091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804672" y="1014984"/>
            <a:ext cx="201168" cy="201168"/>
          </a:xfrm>
          <a:prstGeom prst="roundRect">
            <a:avLst>
              <a:gd fmla="val 9091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060704" y="1014984"/>
            <a:ext cx="201168" cy="201168"/>
          </a:xfrm>
          <a:prstGeom prst="roundRect">
            <a:avLst>
              <a:gd fmla="val 9091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48640" y="14630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500"/>
                </a:solidFill>
                <a:latin typeface="Calibri"/>
                <a:ea typeface="Calibri"/>
                <a:cs typeface="Calibri"/>
                <a:sym typeface="Calibri"/>
              </a:rPr>
              <a:t>A2073 — ROBOTIQUE (PART 2)  ·  EPHEC 2025-2026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48640" y="1783080"/>
            <a:ext cx="51206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6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700"/>
              <a:buFont typeface="Cambria"/>
              <a:buNone/>
            </a:pPr>
            <a:r>
              <a:rPr b="1" i="0" lang="en-US" sz="4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Rubik's Cube</a:t>
            </a:r>
            <a:endParaRPr b="0" i="0" sz="4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6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700"/>
              <a:buFont typeface="Cambria"/>
              <a:buNone/>
            </a:pPr>
            <a:r>
              <a:rPr b="1" i="0" lang="en-US" sz="4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Solver Robot</a:t>
            </a:r>
            <a:endParaRPr b="0" i="0" sz="4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48640" y="333756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9E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9C9E0"/>
                </a:solidFill>
                <a:latin typeface="Calibri"/>
                <a:ea typeface="Calibri"/>
                <a:cs typeface="Calibri"/>
                <a:sym typeface="Calibri"/>
              </a:rPr>
              <a:t>Conception et réalisation d'un robot autonome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9E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9C9E0"/>
                </a:solidFill>
                <a:latin typeface="Calibri"/>
                <a:ea typeface="Calibri"/>
                <a:cs typeface="Calibri"/>
                <a:sym typeface="Calibri"/>
              </a:rPr>
              <a:t>de résolution du Rubik's Cube 3×3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48640" y="422452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YAZAMI Yassine    MAZID Mohamed    ELHAMAYDA Amer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48640" y="45262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9AB8"/>
                </a:solidFill>
                <a:latin typeface="Calibri"/>
                <a:ea typeface="Calibri"/>
                <a:cs typeface="Calibri"/>
                <a:sym typeface="Calibri"/>
              </a:rPr>
              <a:t>Groupe B02 — Classe 2AU — Juin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502920" y="169958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41E3A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02920" y="530352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03A"/>
                </a:solidFill>
                <a:latin typeface="Cambria"/>
                <a:ea typeface="Cambria"/>
                <a:cs typeface="Cambria"/>
                <a:sym typeface="Cambria"/>
              </a:rPr>
              <a:t>Un défi mécanique, électronique et logiciel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183880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371332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8558784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8183880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71332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8558784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8183880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8371332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8558784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Rubik's Cube Solver — Groupe B02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02920" y="1371600"/>
            <a:ext cx="3886200" cy="960120"/>
          </a:xfrm>
          <a:prstGeom prst="roundRect">
            <a:avLst>
              <a:gd fmla="val 6667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731520" y="1444752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1B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51BA"/>
                </a:solidFill>
                <a:latin typeface="Cambria"/>
                <a:ea typeface="Cambria"/>
                <a:cs typeface="Cambria"/>
                <a:sym typeface="Cambria"/>
              </a:rPr>
              <a:t>43×10¹⁸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468880" y="1444752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configurations possibles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02920" y="2487168"/>
            <a:ext cx="3886200" cy="960120"/>
          </a:xfrm>
          <a:prstGeom prst="roundRect">
            <a:avLst>
              <a:gd fmla="val 6667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731520" y="2560320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B48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09B4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b="1" lang="en-US" sz="3000">
                <a:solidFill>
                  <a:srgbClr val="009B4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468880" y="256032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mouvements max.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02920" y="3602736"/>
            <a:ext cx="3886200" cy="960120"/>
          </a:xfrm>
          <a:prstGeom prst="roundRect">
            <a:avLst>
              <a:gd fmla="val 6667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731520" y="3675888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80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5800"/>
                </a:solidFill>
                <a:latin typeface="Cambria"/>
                <a:ea typeface="Cambria"/>
                <a:cs typeface="Cambria"/>
                <a:sym typeface="Cambria"/>
              </a:rPr>
              <a:t>~20 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2468880" y="3675888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temps de résolution de notre robot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800600" y="13716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0203A"/>
                </a:solidFill>
                <a:latin typeface="Cambria"/>
                <a:ea typeface="Cambria"/>
                <a:cs typeface="Cambria"/>
                <a:sym typeface="Cambria"/>
              </a:rPr>
              <a:t>Objectif du projet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800600" y="1783080"/>
            <a:ext cx="38862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Concevoir un robot qui scanne, calcule et exécute la solution d'un Rubik's Cube sans intervention humaine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1200"/>
              </a:spcBef>
              <a:spcAft>
                <a:spcPts val="0"/>
              </a:spcAft>
              <a:buClr>
                <a:srgbClr val="20203A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Combiner trois domaines : mécanique (4 bras), électronique embarquée (PCB sur mesure) et logiciel (PC + Pico)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1200"/>
              </a:spcBef>
              <a:spcAft>
                <a:spcPts val="0"/>
              </a:spcAft>
              <a:buClr>
                <a:srgbClr val="20203A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Identification par badge RFID, supervision par interface PC et communication Bluetooth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502920" y="292608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B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9B48"/>
                </a:solidFill>
                <a:latin typeface="Calibri"/>
                <a:ea typeface="Calibri"/>
                <a:cs typeface="Calibri"/>
                <a:sym typeface="Calibri"/>
              </a:rPr>
              <a:t>VUE D'ENSEMBLE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02920" y="530352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03A"/>
                </a:solidFill>
                <a:latin typeface="Cambria"/>
                <a:ea typeface="Cambria"/>
                <a:cs typeface="Cambria"/>
                <a:sym typeface="Cambria"/>
              </a:rPr>
              <a:t>Architecture du système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8183880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8371332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558784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8183880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8371332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8558784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8183880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8371332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8558784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Rubik's Cube Solver — Groupe B02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22392" y="1234440"/>
            <a:ext cx="3328416" cy="3675888"/>
          </a:xfrm>
          <a:prstGeom prst="roundRect">
            <a:avLst>
              <a:gd fmla="val 1648" name="adj"/>
            </a:avLst>
          </a:prstGeom>
          <a:solidFill>
            <a:srgbClr val="F3F3F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gs/p15_i0.png" id="78" name="Google Shape;78;p5"/>
          <p:cNvPicPr preferRelativeResize="0"/>
          <p:nvPr/>
        </p:nvPicPr>
        <p:blipFill rotWithShape="1">
          <a:blip r:embed="rId3">
            <a:alphaModFix/>
          </a:blip>
          <a:srcRect b="-1429" l="0" r="0" t="-1429"/>
          <a:stretch/>
        </p:blipFill>
        <p:spPr>
          <a:xfrm>
            <a:off x="5238200" y="989125"/>
            <a:ext cx="3448600" cy="36011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5422392" y="4590288"/>
            <a:ext cx="33284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Algorithme général : PC (gauche) / Pico (droite)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02920" y="1298448"/>
            <a:ext cx="4663440" cy="1325880"/>
          </a:xfrm>
          <a:prstGeom prst="roundRect">
            <a:avLst>
              <a:gd fmla="val 4828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731520" y="1408176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1B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51BA"/>
                </a:solidFill>
                <a:latin typeface="Calibri"/>
                <a:ea typeface="Calibri"/>
                <a:cs typeface="Calibri"/>
                <a:sym typeface="Calibri"/>
              </a:rPr>
              <a:t>APPLICATION PC  —  Python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31520" y="1709928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Interface graphique Tkinter (caméra, cube, chrono)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300"/>
              </a:spcBef>
              <a:spcAft>
                <a:spcPts val="0"/>
              </a:spcAft>
              <a:buClr>
                <a:srgbClr val="20203A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Détection des couleurs par caméra (OpenCV / HSV)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300"/>
              </a:spcBef>
              <a:spcAft>
                <a:spcPts val="0"/>
              </a:spcAft>
              <a:buClr>
                <a:srgbClr val="20203A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Calcul de la solution — algorithme Kociemba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02920" y="2779776"/>
            <a:ext cx="4663440" cy="1325880"/>
          </a:xfrm>
          <a:prstGeom prst="roundRect">
            <a:avLst>
              <a:gd fmla="val 4828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731520" y="2889504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8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5800"/>
                </a:solidFill>
                <a:latin typeface="Calibri"/>
                <a:ea typeface="Calibri"/>
                <a:cs typeface="Calibri"/>
                <a:sym typeface="Calibri"/>
              </a:rPr>
              <a:t>FIRMWARE PICO  —  MicroPython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31520" y="3191256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Pilotage des 8 servomoteurs (4 bras)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300"/>
              </a:spcBef>
              <a:spcAft>
                <a:spcPts val="0"/>
              </a:spcAft>
              <a:buClr>
                <a:srgbClr val="20203A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RFID, écran OLED, LED RGB, bouton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300"/>
              </a:spcBef>
              <a:spcAft>
                <a:spcPts val="0"/>
              </a:spcAft>
              <a:buClr>
                <a:srgbClr val="20203A"/>
              </a:buClr>
              <a:buSzPts val="1150"/>
              <a:buFont typeface="Calibri"/>
              <a:buChar char="▪"/>
            </a:pP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Exécution séquentielle des mouvements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02920" y="4297680"/>
            <a:ext cx="4663440" cy="502920"/>
          </a:xfrm>
          <a:prstGeom prst="roundRect">
            <a:avLst>
              <a:gd fmla="val 12727" name="adj"/>
            </a:avLst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731520" y="429768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Liaison Bluetooth HC-05  ·  </a:t>
            </a:r>
            <a:r>
              <a:rPr b="0" i="0" lang="en-US" sz="1200" u="none" cap="none" strike="noStrike">
                <a:solidFill>
                  <a:srgbClr val="FFD500"/>
                </a:solidFill>
                <a:latin typeface="Courier New"/>
                <a:ea typeface="Courier New"/>
                <a:cs typeface="Courier New"/>
                <a:sym typeface="Courier New"/>
              </a:rPr>
              <a:t>START:TAG:PAYLOAD:END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502920" y="292608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1B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51BA"/>
                </a:solidFill>
                <a:latin typeface="Calibri"/>
                <a:ea typeface="Calibri"/>
                <a:cs typeface="Calibri"/>
                <a:sym typeface="Calibri"/>
              </a:rPr>
              <a:t>PARTIE ÉLECTRONIQUE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02920" y="530352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03A"/>
                </a:solidFill>
                <a:latin typeface="Cambria"/>
                <a:ea typeface="Cambria"/>
                <a:cs typeface="Cambria"/>
                <a:sym typeface="Cambria"/>
              </a:rPr>
              <a:t>Les composants du système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8183880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371332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558784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8183880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371332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8558784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8183880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8371332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8558784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Rubik's Cube Solver — Groupe B02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828025" y="1169413"/>
            <a:ext cx="3877200" cy="3174000"/>
          </a:xfrm>
          <a:prstGeom prst="roundRect">
            <a:avLst>
              <a:gd fmla="val 1835" name="adj"/>
            </a:avLst>
          </a:prstGeom>
          <a:solidFill>
            <a:srgbClr val="F3F3F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gs/p05_i0.png" id="106" name="Google Shape;106;p6"/>
          <p:cNvPicPr preferRelativeResize="0"/>
          <p:nvPr/>
        </p:nvPicPr>
        <p:blipFill rotWithShape="1">
          <a:blip r:embed="rId3">
            <a:alphaModFix/>
          </a:blip>
          <a:srcRect b="0" l="-21930" r="-21930" t="0"/>
          <a:stretch/>
        </p:blipFill>
        <p:spPr>
          <a:xfrm>
            <a:off x="4700123" y="1283912"/>
            <a:ext cx="3940951" cy="273943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6"/>
          <p:cNvSpPr/>
          <p:nvPr/>
        </p:nvSpPr>
        <p:spPr>
          <a:xfrm>
            <a:off x="4828032" y="4023360"/>
            <a:ext cx="38770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Schéma électrique complet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02920" y="1444752"/>
            <a:ext cx="146304" cy="146304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777240" y="1371600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Raspberry Pi Pico W  —  </a:t>
            </a:r>
            <a:r>
              <a:rPr b="0" i="0" lang="en-US" sz="12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Microcontrôleur — firmware MicroPython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02920" y="2011680"/>
            <a:ext cx="146304" cy="146304"/>
          </a:xfrm>
          <a:prstGeom prst="ellipse">
            <a:avLst/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777240" y="1938528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HC-05 Bluetooth  —  </a:t>
            </a:r>
            <a:r>
              <a:rPr b="0" i="0" lang="en-US" sz="12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Liaison PC ↔ Pico (UART, 38 400 bauds)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02920" y="2578608"/>
            <a:ext cx="146304" cy="146304"/>
          </a:xfrm>
          <a:prstGeom prst="ellipse">
            <a:avLst/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777240" y="2505456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MFRC522 RFID  —  </a:t>
            </a:r>
            <a:r>
              <a:rPr b="0" i="0" lang="en-US" sz="12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Identification par badge (SPI)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02920" y="3145536"/>
            <a:ext cx="146304" cy="146304"/>
          </a:xfrm>
          <a:prstGeom prst="ellipse">
            <a:avLst/>
          </a:prstGeom>
          <a:solidFill>
            <a:srgbClr val="FF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777240" y="3072384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OLED SSD1306  —  </a:t>
            </a:r>
            <a:r>
              <a:rPr b="0" i="0" lang="en-US" sz="12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Affichage état &amp; progression (I2C)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02920" y="3712464"/>
            <a:ext cx="146304" cy="146304"/>
          </a:xfrm>
          <a:prstGeom prst="ellipse">
            <a:avLst/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777240" y="3639312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8× servos MG90S  —  </a:t>
            </a:r>
            <a:r>
              <a:rPr b="0" i="0" lang="en-US" sz="12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4 rotations + 4 pinces (PWM 50 Hz)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02920" y="4279392"/>
            <a:ext cx="146304" cy="146304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777240" y="4206240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LED RGB + bouton  —  </a:t>
            </a:r>
            <a:r>
              <a:rPr b="0" i="0" lang="en-US" sz="12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État visuel &amp; commande manuelle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892040" y="4224528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Alimentation 5 V séparée pour les servos : évite les chutes de tension lors des mouvements simultanés.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502920" y="292608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1B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51BA"/>
                </a:solidFill>
                <a:latin typeface="Calibri"/>
                <a:ea typeface="Calibri"/>
                <a:cs typeface="Calibri"/>
                <a:sym typeface="Calibri"/>
              </a:rPr>
              <a:t>PARTIE ÉLECTRONIQUE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02920" y="530352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03A"/>
                </a:solidFill>
                <a:latin typeface="Cambria"/>
                <a:ea typeface="Cambria"/>
                <a:cs typeface="Cambria"/>
                <a:sym typeface="Cambria"/>
              </a:rPr>
              <a:t>Un PCB conçu sur mesure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8183880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8371332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8558784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8183880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8371332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8558784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8183880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8371332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8558784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Rubik's Cube Solver — Groupe B02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84632" y="1307592"/>
            <a:ext cx="2734056" cy="3035808"/>
          </a:xfrm>
          <a:prstGeom prst="roundRect">
            <a:avLst>
              <a:gd fmla="val 2007" name="adj"/>
            </a:avLst>
          </a:prstGeom>
          <a:solidFill>
            <a:srgbClr val="F3F3F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7" title="image1.png"/>
          <p:cNvPicPr preferRelativeResize="0"/>
          <p:nvPr/>
        </p:nvPicPr>
        <p:blipFill rotWithShape="1">
          <a:blip r:embed="rId3">
            <a:alphaModFix/>
          </a:blip>
          <a:srcRect b="4371" l="0" r="0" t="4371"/>
          <a:stretch/>
        </p:blipFill>
        <p:spPr>
          <a:xfrm>
            <a:off x="566950" y="1371600"/>
            <a:ext cx="2606024" cy="265174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7"/>
          <p:cNvSpPr/>
          <p:nvPr/>
        </p:nvSpPr>
        <p:spPr>
          <a:xfrm>
            <a:off x="484632" y="4023360"/>
            <a:ext cx="27340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Routage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3456432" y="1307592"/>
            <a:ext cx="2642616" cy="3035808"/>
          </a:xfrm>
          <a:prstGeom prst="roundRect">
            <a:avLst>
              <a:gd fmla="val 2076" name="adj"/>
            </a:avLst>
          </a:prstGeom>
          <a:solidFill>
            <a:srgbClr val="F3F3F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7" title="image.png"/>
          <p:cNvPicPr preferRelativeResize="0"/>
          <p:nvPr/>
        </p:nvPicPr>
        <p:blipFill rotWithShape="1">
          <a:blip r:embed="rId4">
            <a:alphaModFix/>
          </a:blip>
          <a:srcRect b="0" l="2281" r="2290" t="0"/>
          <a:stretch/>
        </p:blipFill>
        <p:spPr>
          <a:xfrm>
            <a:off x="3351815" y="1408175"/>
            <a:ext cx="2514601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3456432" y="4023360"/>
            <a:ext cx="2642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Rendu 3D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382512" y="1307592"/>
            <a:ext cx="2276856" cy="3035808"/>
          </a:xfrm>
          <a:prstGeom prst="roundRect">
            <a:avLst>
              <a:gd fmla="val 2410" name="adj"/>
            </a:avLst>
          </a:prstGeom>
          <a:solidFill>
            <a:srgbClr val="F3F3F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gs/p08_i1.png" id="145" name="Google Shape;145;p7"/>
          <p:cNvPicPr preferRelativeResize="0"/>
          <p:nvPr/>
        </p:nvPicPr>
        <p:blipFill rotWithShape="1">
          <a:blip r:embed="rId5">
            <a:alphaModFix/>
          </a:blip>
          <a:srcRect b="-11702" l="0" r="0" t="-11702"/>
          <a:stretch/>
        </p:blipFill>
        <p:spPr>
          <a:xfrm>
            <a:off x="6446520" y="1371600"/>
            <a:ext cx="214884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6382512" y="4023360"/>
            <a:ext cx="22768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PCB soudé &amp; assemblé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48640" y="437083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1B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51BA"/>
                </a:solidFill>
                <a:latin typeface="Calibri"/>
                <a:ea typeface="Calibri"/>
                <a:cs typeface="Calibri"/>
                <a:sym typeface="Calibri"/>
              </a:rPr>
              <a:t>81,15 × 88,14 mm</a:t>
            </a:r>
            <a:r>
              <a:rPr b="0" i="0" lang="en-US" sz="130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  ·  21 composants  ·  2 couches  ·  141 pastilles  ·  fabriqué via JLCPCB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/>
          <p:nvPr/>
        </p:nvSpPr>
        <p:spPr>
          <a:xfrm>
            <a:off x="502920" y="292608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B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9B48"/>
                </a:solidFill>
                <a:latin typeface="Calibri"/>
                <a:ea typeface="Calibri"/>
                <a:cs typeface="Calibri"/>
                <a:sym typeface="Calibri"/>
              </a:rPr>
              <a:t>PARTIE MÉCANIQUE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02920" y="530352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03A"/>
                </a:solidFill>
                <a:latin typeface="Cambria"/>
                <a:ea typeface="Cambria"/>
                <a:cs typeface="Cambria"/>
                <a:sym typeface="Cambria"/>
              </a:rPr>
              <a:t>Une structure en croix à 4 bras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8183880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8371332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8558784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8183880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8371332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8558784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8183880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8371332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8558784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Rubik's Cube Solver — Groupe B02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84632" y="1261872"/>
            <a:ext cx="2642616" cy="3355848"/>
          </a:xfrm>
          <a:prstGeom prst="roundRect">
            <a:avLst>
              <a:gd fmla="val 2076" name="adj"/>
            </a:avLst>
          </a:prstGeom>
          <a:solidFill>
            <a:srgbClr val="F3F3F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gs/p09_i0.png" id="166" name="Google Shape;166;p8"/>
          <p:cNvPicPr preferRelativeResize="0"/>
          <p:nvPr/>
        </p:nvPicPr>
        <p:blipFill rotWithShape="1">
          <a:blip r:embed="rId3">
            <a:alphaModFix/>
          </a:blip>
          <a:srcRect b="-9091" l="0" r="0" t="-9091"/>
          <a:stretch/>
        </p:blipFill>
        <p:spPr>
          <a:xfrm>
            <a:off x="548640" y="1325880"/>
            <a:ext cx="251460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484632" y="4297680"/>
            <a:ext cx="2642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Robot assemblé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364992" y="1261872"/>
            <a:ext cx="2505456" cy="2715768"/>
          </a:xfrm>
          <a:prstGeom prst="roundRect">
            <a:avLst>
              <a:gd fmla="val 2190" name="adj"/>
            </a:avLst>
          </a:prstGeom>
          <a:solidFill>
            <a:srgbClr val="F3F3F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gs/p12_i1.png" id="169" name="Google Shape;169;p8"/>
          <p:cNvPicPr preferRelativeResize="0"/>
          <p:nvPr/>
        </p:nvPicPr>
        <p:blipFill rotWithShape="1">
          <a:blip r:embed="rId4">
            <a:alphaModFix/>
          </a:blip>
          <a:srcRect b="0" l="-980" r="-980" t="0"/>
          <a:stretch/>
        </p:blipFill>
        <p:spPr>
          <a:xfrm>
            <a:off x="3429000" y="1325880"/>
            <a:ext cx="237744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/>
          <p:nvPr/>
        </p:nvSpPr>
        <p:spPr>
          <a:xfrm>
            <a:off x="3364992" y="3657600"/>
            <a:ext cx="25054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Plan de découpe laser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172200" y="13258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0203A"/>
                </a:solidFill>
                <a:latin typeface="Cambria"/>
                <a:ea typeface="Cambria"/>
                <a:cs typeface="Cambria"/>
                <a:sym typeface="Cambria"/>
              </a:rPr>
              <a:t>Principe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172200" y="1691640"/>
            <a:ext cx="25146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4 bras en croix face aux faces F, B, L, R du cube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90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Chaque bras = 1 servo de rotation + 1 servo de pince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90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Base découpée au laser : positionnement précis et reproductible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90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Pièces des bras imprimées en PLA (Fusion 360)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90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Caméra USB fixée au-dessus du centre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502920" y="292608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B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9B48"/>
                </a:solidFill>
                <a:latin typeface="Calibri"/>
                <a:ea typeface="Calibri"/>
                <a:cs typeface="Calibri"/>
                <a:sym typeface="Calibri"/>
              </a:rPr>
              <a:t>PARTIE MÉCANIQUE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02920" y="530352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03A"/>
                </a:solidFill>
                <a:latin typeface="Cambria"/>
                <a:ea typeface="Cambria"/>
                <a:cs typeface="Cambria"/>
                <a:sym typeface="Cambria"/>
              </a:rPr>
              <a:t>Pièces modélisées sous Fusion 360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8183880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8371332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8558784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8183880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8371332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8558784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8183880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8371332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8558784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Rubik's Cube Solver — Groupe B02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84632" y="1261872"/>
            <a:ext cx="2596896" cy="1709928"/>
          </a:xfrm>
          <a:prstGeom prst="roundRect">
            <a:avLst>
              <a:gd fmla="val 3209" name="adj"/>
            </a:avLst>
          </a:prstGeom>
          <a:solidFill>
            <a:srgbClr val="F3F3F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gs/p10_i1.png" id="191" name="Google Shape;191;p9"/>
          <p:cNvPicPr preferRelativeResize="0"/>
          <p:nvPr/>
        </p:nvPicPr>
        <p:blipFill rotWithShape="1">
          <a:blip r:embed="rId3">
            <a:alphaModFix/>
          </a:blip>
          <a:srcRect b="0" l="-43103" r="-43103" t="0"/>
          <a:stretch/>
        </p:blipFill>
        <p:spPr>
          <a:xfrm>
            <a:off x="548640" y="1325880"/>
            <a:ext cx="2468880" cy="1325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/>
          <p:nvPr/>
        </p:nvSpPr>
        <p:spPr>
          <a:xfrm>
            <a:off x="484632" y="2651760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Platine support servo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3273552" y="1261872"/>
            <a:ext cx="2596896" cy="1709928"/>
          </a:xfrm>
          <a:prstGeom prst="roundRect">
            <a:avLst>
              <a:gd fmla="val 3209" name="adj"/>
            </a:avLst>
          </a:prstGeom>
          <a:solidFill>
            <a:srgbClr val="F3F3F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gs/p11_i0.png" id="194" name="Google Shape;194;p9"/>
          <p:cNvPicPr preferRelativeResize="0"/>
          <p:nvPr/>
        </p:nvPicPr>
        <p:blipFill rotWithShape="1">
          <a:blip r:embed="rId4">
            <a:alphaModFix/>
          </a:blip>
          <a:srcRect b="0" l="-43103" r="-43103" t="0"/>
          <a:stretch/>
        </p:blipFill>
        <p:spPr>
          <a:xfrm>
            <a:off x="3337560" y="1325880"/>
            <a:ext cx="2468880" cy="1325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/>
          <p:nvPr/>
        </p:nvSpPr>
        <p:spPr>
          <a:xfrm>
            <a:off x="3273552" y="2651760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Colonne verticale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062472" y="1261872"/>
            <a:ext cx="2596896" cy="1709928"/>
          </a:xfrm>
          <a:prstGeom prst="roundRect">
            <a:avLst>
              <a:gd fmla="val 3209" name="adj"/>
            </a:avLst>
          </a:prstGeom>
          <a:solidFill>
            <a:srgbClr val="F3F3F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gs/p11_i1.png" id="197" name="Google Shape;197;p9"/>
          <p:cNvPicPr preferRelativeResize="0"/>
          <p:nvPr/>
        </p:nvPicPr>
        <p:blipFill rotWithShape="1">
          <a:blip r:embed="rId5">
            <a:alphaModFix/>
          </a:blip>
          <a:srcRect b="0" l="-43103" r="-43103" t="0"/>
          <a:stretch/>
        </p:blipFill>
        <p:spPr>
          <a:xfrm>
            <a:off x="6126480" y="1325880"/>
            <a:ext cx="2468880" cy="1325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/>
          <p:nvPr/>
        </p:nvSpPr>
        <p:spPr>
          <a:xfrm>
            <a:off x="6062472" y="2651760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Engrenage (trou en 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84632" y="3044952"/>
            <a:ext cx="2596896" cy="1709928"/>
          </a:xfrm>
          <a:prstGeom prst="roundRect">
            <a:avLst>
              <a:gd fmla="val 3209" name="adj"/>
            </a:avLst>
          </a:prstGeom>
          <a:solidFill>
            <a:srgbClr val="F3F3F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gs/p13_i0.png" id="200" name="Google Shape;200;p9"/>
          <p:cNvPicPr preferRelativeResize="0"/>
          <p:nvPr/>
        </p:nvPicPr>
        <p:blipFill rotWithShape="1">
          <a:blip r:embed="rId6">
            <a:alphaModFix/>
          </a:blip>
          <a:srcRect b="0" l="-43103" r="-43103" t="0"/>
          <a:stretch/>
        </p:blipFill>
        <p:spPr>
          <a:xfrm>
            <a:off x="548640" y="3108960"/>
            <a:ext cx="2468880" cy="1325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9"/>
          <p:cNvSpPr/>
          <p:nvPr/>
        </p:nvSpPr>
        <p:spPr>
          <a:xfrm>
            <a:off x="484632" y="4434840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Cadre structural en 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3273552" y="3044952"/>
            <a:ext cx="2596896" cy="1709928"/>
          </a:xfrm>
          <a:prstGeom prst="roundRect">
            <a:avLst>
              <a:gd fmla="val 3209" name="adj"/>
            </a:avLst>
          </a:prstGeom>
          <a:solidFill>
            <a:srgbClr val="F3F3F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gs/p12_i0.png" id="203" name="Google Shape;203;p9"/>
          <p:cNvPicPr preferRelativeResize="0"/>
          <p:nvPr/>
        </p:nvPicPr>
        <p:blipFill rotWithShape="1">
          <a:blip r:embed="rId7">
            <a:alphaModFix/>
          </a:blip>
          <a:srcRect b="0" l="-43103" r="-43103" t="0"/>
          <a:stretch/>
        </p:blipFill>
        <p:spPr>
          <a:xfrm>
            <a:off x="3337560" y="3108960"/>
            <a:ext cx="2468880" cy="1325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/>
          <p:nvPr/>
        </p:nvSpPr>
        <p:spPr>
          <a:xfrm>
            <a:off x="3273552" y="4434840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Support de caméra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6062472" y="3044952"/>
            <a:ext cx="2596896" cy="1709928"/>
          </a:xfrm>
          <a:prstGeom prst="roundRect">
            <a:avLst>
              <a:gd fmla="val 3209" name="adj"/>
            </a:avLst>
          </a:prstGeom>
          <a:solidFill>
            <a:srgbClr val="F3F3F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gs/p10_i0.png" id="206" name="Google Shape;206;p9"/>
          <p:cNvPicPr preferRelativeResize="0"/>
          <p:nvPr/>
        </p:nvPicPr>
        <p:blipFill rotWithShape="1">
          <a:blip r:embed="rId8">
            <a:alphaModFix/>
          </a:blip>
          <a:srcRect b="0" l="-43103" r="-43103" t="0"/>
          <a:stretch/>
        </p:blipFill>
        <p:spPr>
          <a:xfrm>
            <a:off x="6126480" y="3108960"/>
            <a:ext cx="2468880" cy="1325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9"/>
          <p:cNvSpPr/>
          <p:nvPr/>
        </p:nvSpPr>
        <p:spPr>
          <a:xfrm>
            <a:off x="6062472" y="4434840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Pince de saisie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023360" y="4828032"/>
            <a:ext cx="4617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Tolérances ajustées (+0,2 mm) après plusieurs itérations d'impression.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502920" y="292608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8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5800"/>
                </a:solidFill>
                <a:latin typeface="Calibri"/>
                <a:ea typeface="Calibri"/>
                <a:cs typeface="Calibri"/>
                <a:sym typeface="Calibri"/>
              </a:rPr>
              <a:t>PARTIE MÉCANIQUE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502920" y="530352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03A"/>
                </a:solidFill>
                <a:latin typeface="Cambria"/>
                <a:ea typeface="Cambria"/>
                <a:cs typeface="Cambria"/>
                <a:sym typeface="Cambria"/>
              </a:rPr>
              <a:t>Servomoteurs MG90S &amp; calibrage par bras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8183880" y="347472"/>
            <a:ext cx="146400" cy="146400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8371332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8558784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8183880" y="534924"/>
            <a:ext cx="146400" cy="146400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8371332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8558784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8183880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8371332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8558784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Rubik's Cube Solver — Groupe B02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6" name="Google Shape;226;p10"/>
          <p:cNvGraphicFramePr/>
          <p:nvPr/>
        </p:nvGraphicFramePr>
        <p:xfrm>
          <a:off x="54864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{1AA2BF91-76A2-4F65-9184-CDC4BA89AE1D}</a:tableStyleId>
              </a:tblPr>
              <a:tblGrid>
                <a:gridCol w="1828800"/>
                <a:gridCol w="914400"/>
                <a:gridCol w="914400"/>
                <a:gridCol w="9144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Paramètre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Bras 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Bras R / F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Bras B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ROT_CENTER (neutre)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86°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90°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94°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GRIP_HOLD (saisie)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20°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18° / 30°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35°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GRIP_OPEN (relâche)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100°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100°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100°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Temps / mouvement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0,12 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0,12 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0,12 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10"/>
          <p:cNvSpPr/>
          <p:nvPr/>
        </p:nvSpPr>
        <p:spPr>
          <a:xfrm>
            <a:off x="5486400" y="1417320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20203A"/>
                </a:solidFill>
                <a:latin typeface="Cambria"/>
                <a:ea typeface="Cambria"/>
                <a:cs typeface="Cambria"/>
                <a:sym typeface="Cambria"/>
              </a:rPr>
              <a:t>Pourquoi un calibrage individuel 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486400" y="1783080"/>
            <a:ext cx="31546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Chaque bras a ses propres constantes : compense les asymétries mécaniques de l'impression 3D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100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Couple 1,8 kg/cm à 5 V — engrenages métal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100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Char char="▪"/>
            </a:pPr>
            <a:r>
              <a:rPr b="0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U et D (pas de bras dédié) : basculement du cube + rotation de la face accessible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548640" y="3977640"/>
            <a:ext cx="8092440" cy="685800"/>
          </a:xfrm>
          <a:prstGeom prst="roundRect">
            <a:avLst>
              <a:gd fmla="val 9333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777240" y="3977640"/>
            <a:ext cx="7680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Chaque mouvement (R, U', F2…)  →  </a:t>
            </a:r>
            <a:r>
              <a:rPr b="1" i="0" lang="en-US" sz="1350" u="none" cap="none" strike="noStrike">
                <a:solidFill>
                  <a:srgbClr val="FF5800"/>
                </a:solidFill>
                <a:latin typeface="Calibri"/>
                <a:ea typeface="Calibri"/>
                <a:cs typeface="Calibri"/>
                <a:sym typeface="Calibri"/>
              </a:rPr>
              <a:t>rotation CW/CCW → relâche pince → retour centre → saisie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502920" y="292608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8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5800"/>
                </a:solidFill>
                <a:latin typeface="Calibri"/>
                <a:ea typeface="Calibri"/>
                <a:cs typeface="Calibri"/>
                <a:sym typeface="Calibri"/>
              </a:rPr>
              <a:t>PROGRAMMATION — PICO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502920" y="530352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03A"/>
                </a:solidFill>
                <a:latin typeface="Cambria"/>
                <a:ea typeface="Cambria"/>
                <a:cs typeface="Cambria"/>
                <a:sym typeface="Cambria"/>
              </a:rPr>
              <a:t>Firmware MicroPython : 8 modules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8183880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8371332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8558784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8183880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8371332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8558784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8183880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8371332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8558784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Rubik's Cube Solver — Groupe B02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502920" y="1325880"/>
            <a:ext cx="4892040" cy="512064"/>
          </a:xfrm>
          <a:prstGeom prst="roundRect">
            <a:avLst>
              <a:gd fmla="val 10714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685800" y="1325880"/>
            <a:ext cx="4617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800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5800"/>
                </a:solidFill>
                <a:latin typeface="Courier New"/>
                <a:ea typeface="Courier New"/>
                <a:cs typeface="Courier New"/>
                <a:sym typeface="Courier New"/>
              </a:rPr>
              <a:t>main.py</a:t>
            </a: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   Boucle principale : RFID, bouton, Bluetooth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502920" y="1929384"/>
            <a:ext cx="4892040" cy="512064"/>
          </a:xfrm>
          <a:prstGeom prst="roundRect">
            <a:avLst>
              <a:gd fmla="val 10714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685800" y="1929384"/>
            <a:ext cx="4617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800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5800"/>
                </a:solidFill>
                <a:latin typeface="Courier New"/>
                <a:ea typeface="Courier New"/>
                <a:cs typeface="Courier New"/>
                <a:sym typeface="Courier New"/>
              </a:rPr>
              <a:t>servo_controller.py</a:t>
            </a: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   4 bras / 8 servos, calibrage individuel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502920" y="2532888"/>
            <a:ext cx="4892040" cy="512064"/>
          </a:xfrm>
          <a:prstGeom prst="roundRect">
            <a:avLst>
              <a:gd fmla="val 10714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685800" y="2532888"/>
            <a:ext cx="4617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800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FF5800"/>
                </a:solidFill>
                <a:latin typeface="Courier New"/>
                <a:ea typeface="Courier New"/>
                <a:cs typeface="Courier New"/>
                <a:sym typeface="Courier New"/>
              </a:rPr>
              <a:t>state.py</a:t>
            </a: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   Machine à états : IDLE / MOVING / SCAN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502920" y="3136392"/>
            <a:ext cx="4892040" cy="512064"/>
          </a:xfrm>
          <a:prstGeom prst="roundRect">
            <a:avLst>
              <a:gd fmla="val 10714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685800" y="3136392"/>
            <a:ext cx="4617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1BA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0051BA"/>
                </a:solidFill>
                <a:latin typeface="Courier New"/>
                <a:ea typeface="Courier New"/>
                <a:cs typeface="Courier New"/>
                <a:sym typeface="Courier New"/>
              </a:rPr>
              <a:t>bluetooth.py</a:t>
            </a: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   UART 0, buffer 512 octets, parsing du protocole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502920" y="3739896"/>
            <a:ext cx="4892040" cy="512064"/>
          </a:xfrm>
          <a:prstGeom prst="roundRect">
            <a:avLst>
              <a:gd fmla="val 10714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685800" y="3739896"/>
            <a:ext cx="4617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1BA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0051BA"/>
                </a:solidFill>
                <a:latin typeface="Courier New"/>
                <a:ea typeface="Courier New"/>
                <a:cs typeface="Courier New"/>
                <a:sym typeface="Courier New"/>
              </a:rPr>
              <a:t>rfid + oled + led</a:t>
            </a: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   Badge, affichage 4 lignes, LED RGB d'état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5715000" y="13258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20203A"/>
                </a:solidFill>
                <a:latin typeface="Cambria"/>
                <a:ea typeface="Cambria"/>
                <a:cs typeface="Cambria"/>
                <a:sym typeface="Cambria"/>
              </a:rPr>
              <a:t>Le bouton physique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5715000" y="1664208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200"/>
              <a:buFont typeface="Calibri"/>
              <a:buChar char="▪"/>
            </a:pPr>
            <a:r>
              <a:rPr b="0" i="0" lang="en-US" sz="120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Appui court (&lt; 0,8 s) : ouvrir / serrer les pinces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20203A"/>
              </a:buClr>
              <a:buSzPts val="1200"/>
              <a:buFont typeface="Calibri"/>
              <a:buChar char="▪"/>
            </a:pPr>
            <a:r>
              <a:rPr b="0" i="0" lang="en-US" sz="120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Appui long (&gt; 0,8 s) : scan automatique des 6 faces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715000" y="27889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20203A"/>
                </a:solidFill>
                <a:latin typeface="Cambria"/>
                <a:ea typeface="Cambria"/>
                <a:cs typeface="Cambria"/>
                <a:sym typeface="Cambria"/>
              </a:rPr>
              <a:t>Sécurité RFID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5715000" y="3127248"/>
            <a:ext cx="2971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200"/>
              <a:buFont typeface="Calibri"/>
              <a:buChar char="▪"/>
            </a:pPr>
            <a:r>
              <a:rPr b="0" i="0" lang="en-US" sz="120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Liste blanche de badges autorisés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20203A"/>
              </a:buClr>
              <a:buSzPts val="1200"/>
              <a:buFont typeface="Calibri"/>
              <a:buChar char="▪"/>
            </a:pPr>
            <a:r>
              <a:rPr b="0" i="0" lang="en-US" sz="120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Badge refusé → LED rouge, commandes bloquées, ERR:NOT_AUTHORIZED envoyé au PC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"/>
          <p:cNvSpPr/>
          <p:nvPr/>
        </p:nvSpPr>
        <p:spPr>
          <a:xfrm>
            <a:off x="502920" y="292608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1B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51BA"/>
                </a:solidFill>
                <a:latin typeface="Calibri"/>
                <a:ea typeface="Calibri"/>
                <a:cs typeface="Calibri"/>
                <a:sym typeface="Calibri"/>
              </a:rPr>
              <a:t>PROGRAMMATION — COMMUNICATION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502920" y="530352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03A"/>
                </a:solidFill>
                <a:latin typeface="Cambria"/>
                <a:ea typeface="Cambria"/>
                <a:cs typeface="Cambria"/>
                <a:sym typeface="Cambria"/>
              </a:rPr>
              <a:t>Protocole Bluetooth maison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8183880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8371332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8558784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8183880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8371332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8558784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8183880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8371332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8558784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Rubik's Cube Solver — Groupe B02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548640" y="1371600"/>
            <a:ext cx="8092440" cy="621792"/>
          </a:xfrm>
          <a:prstGeom prst="roundRect">
            <a:avLst>
              <a:gd fmla="val 10294" name="adj"/>
            </a:avLst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548640" y="1371600"/>
            <a:ext cx="8092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D500"/>
                </a:solidFill>
                <a:latin typeface="Courier New"/>
                <a:ea typeface="Courier New"/>
                <a:cs typeface="Courier New"/>
                <a:sym typeface="Courier New"/>
              </a:rPr>
              <a:t>START : TAG : PAYLOAD : END\n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1" name="Google Shape;281;p12"/>
          <p:cNvGraphicFramePr/>
          <p:nvPr/>
        </p:nvGraphicFramePr>
        <p:xfrm>
          <a:off x="548640" y="2194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{1AA2BF91-76A2-4F65-9184-CDC4BA89AE1D}</a:tableStyleId>
              </a:tblPr>
              <a:tblGrid>
                <a:gridCol w="1188725"/>
                <a:gridCol w="2743200"/>
                <a:gridCol w="41605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Rôle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 → Pico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1BA"/>
                        </a:buClr>
                        <a:buSzPts val="1100"/>
                        <a:buFont typeface="Courier New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51B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MOVE / GRAB / RELEASE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Exécuter une séquence, serrer / relâcher les pinces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 → Pico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1BA"/>
                        </a:buClr>
                        <a:buSzPts val="1100"/>
                        <a:buFont typeface="Courier New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51B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START_SCAN / SCAN_ACK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Déclencher le scan, acquitter chaque face capturée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Pico → PC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1BA"/>
                        </a:buClr>
                        <a:buSzPts val="1100"/>
                        <a:buFont typeface="Courier New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51B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SCAN_READY / SCAN_DONE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Face en position devant la caméra, scan terminé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Pico → PC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1BA"/>
                        </a:buClr>
                        <a:buSzPts val="1100"/>
                        <a:buFont typeface="Courier New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51B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PROG:i/total / DONE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Progression mouvement par mouvement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Pico → PC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1BA"/>
                        </a:buClr>
                        <a:buSzPts val="1100"/>
                        <a:buFont typeface="Courier New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51B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AUTH:id,0|1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Résultat de la lecture RFID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2" name="Google Shape;282;p12"/>
          <p:cNvSpPr/>
          <p:nvPr/>
        </p:nvSpPr>
        <p:spPr>
          <a:xfrm>
            <a:off x="548640" y="4572000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Buffer logiciel de 512 octets côté Pico : absorbe les longues solutions et filtre le bruit d'initialisation du HC-05.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"/>
          <p:cNvSpPr/>
          <p:nvPr/>
        </p:nvSpPr>
        <p:spPr>
          <a:xfrm>
            <a:off x="502920" y="292608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41E3A"/>
                </a:solidFill>
                <a:latin typeface="Calibri"/>
                <a:ea typeface="Calibri"/>
                <a:cs typeface="Calibri"/>
                <a:sym typeface="Calibri"/>
              </a:rPr>
              <a:t>PROGRAMMATION — PC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502920" y="530352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03A"/>
                </a:solidFill>
                <a:latin typeface="Cambria"/>
                <a:ea typeface="Cambria"/>
                <a:cs typeface="Cambria"/>
                <a:sym typeface="Cambria"/>
              </a:rPr>
              <a:t>L'interface de supervision Tkinter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8183880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8371332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8558784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8183880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8371332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8558784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8183880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8371332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"/>
          <p:cNvSpPr/>
          <p:nvPr/>
        </p:nvSpPr>
        <p:spPr>
          <a:xfrm>
            <a:off x="8558784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Rubik's Cube Solver — Groupe B02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025" y="1207675"/>
            <a:ext cx="8707319" cy="350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"/>
          <p:cNvSpPr/>
          <p:nvPr/>
        </p:nvSpPr>
        <p:spPr>
          <a:xfrm>
            <a:off x="502920" y="292608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B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9B48"/>
                </a:solidFill>
                <a:latin typeface="Calibri"/>
                <a:ea typeface="Calibri"/>
                <a:cs typeface="Calibri"/>
                <a:sym typeface="Calibri"/>
              </a:rPr>
              <a:t>PROGRAMMATION — VISION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502920" y="530352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03A"/>
                </a:solidFill>
                <a:latin typeface="Cambria"/>
                <a:ea typeface="Cambria"/>
                <a:cs typeface="Cambria"/>
                <a:sym typeface="Cambria"/>
              </a:rPr>
              <a:t>Détection des couleurs (OpenCV / HSV)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8183880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8371332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8558784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8183880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8371332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8558784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8183880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8371332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8558784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Rubik's Cube Solver — Groupe B02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438912" y="1938528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Patch 17×17 px par case du cube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2633472" y="1417320"/>
            <a:ext cx="457200" cy="457200"/>
          </a:xfrm>
          <a:prstGeom prst="ellipse">
            <a:avLst/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2633472" y="1417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2523744" y="1938528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Couleur médiane comparée aux plages HSV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4718304" y="1417320"/>
            <a:ext cx="457200" cy="457200"/>
          </a:xfrm>
          <a:prstGeom prst="ellipse">
            <a:avLst/>
          </a:prstGeom>
          <a:solidFill>
            <a:srgbClr val="FF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4718304" y="1417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4608576" y="1938528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 captures successives par face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6803136" y="1417320"/>
            <a:ext cx="457200" cy="45720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6803136" y="1417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6693408" y="1938528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Vote majoritaire case par case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0" name="Google Shape;330;p14"/>
          <p:cNvGraphicFramePr/>
          <p:nvPr/>
        </p:nvGraphicFramePr>
        <p:xfrm>
          <a:off x="1325880" y="2788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{1AA2BF91-76A2-4F65-9184-CDC4BA89AE1D}</a:tableStyleId>
              </a:tblPr>
              <a:tblGrid>
                <a:gridCol w="411475"/>
                <a:gridCol w="1234450"/>
                <a:gridCol w="1737350"/>
                <a:gridCol w="31089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Couleur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Teinte 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Conditions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Blanc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– 180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&lt; 60 et V &gt; 170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58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Orange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– 22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testé AVANT le rouge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5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Jaune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 – 38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&gt; 80 et V &gt; 80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B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 – 85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&gt; 70 et V &gt; 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Bleu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 – 135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&gt; 70 et V &gt; 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Rouge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0-5 / 170-179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03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020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 plage circulaire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5"/>
          <p:cNvSpPr/>
          <p:nvPr/>
        </p:nvSpPr>
        <p:spPr>
          <a:xfrm>
            <a:off x="502920" y="292608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500"/>
                </a:solidFill>
                <a:latin typeface="Calibri"/>
                <a:ea typeface="Calibri"/>
                <a:cs typeface="Calibri"/>
                <a:sym typeface="Calibri"/>
              </a:rPr>
              <a:t>PROGRAMMATION — RÉSOLUTION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502920" y="530352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03A"/>
                </a:solidFill>
                <a:latin typeface="Cambria"/>
                <a:ea typeface="Cambria"/>
                <a:cs typeface="Cambria"/>
                <a:sym typeface="Cambria"/>
              </a:rPr>
              <a:t>L'algorithme Kociemba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8183880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5"/>
          <p:cNvSpPr/>
          <p:nvPr/>
        </p:nvSpPr>
        <p:spPr>
          <a:xfrm>
            <a:off x="8371332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8558784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8183880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8371332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8558784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8183880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8371332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5"/>
          <p:cNvSpPr/>
          <p:nvPr/>
        </p:nvSpPr>
        <p:spPr>
          <a:xfrm>
            <a:off x="8558784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Rubik's Cube Solver — Groupe B02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548640" y="1463040"/>
            <a:ext cx="1874520" cy="914400"/>
          </a:xfrm>
          <a:prstGeom prst="roundRect">
            <a:avLst>
              <a:gd fmla="val 7000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548640" y="1463040"/>
            <a:ext cx="1874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6 faces scannées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2395728" y="1463040"/>
            <a:ext cx="3108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2670048" y="1463040"/>
            <a:ext cx="1874520" cy="914400"/>
          </a:xfrm>
          <a:prstGeom prst="roundRect">
            <a:avLst>
              <a:gd fmla="val 7000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2670048" y="1463040"/>
            <a:ext cx="1874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Chaîne de 54 caractères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(ordre U-R-F-D-L-B)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4517136" y="1463040"/>
            <a:ext cx="3108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4791456" y="1463040"/>
            <a:ext cx="1874520" cy="914400"/>
          </a:xfrm>
          <a:prstGeom prst="roundRect">
            <a:avLst>
              <a:gd fmla="val 7000" name="adj"/>
            </a:avLst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4791456" y="1463040"/>
            <a:ext cx="1874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D500"/>
                </a:solidFill>
                <a:latin typeface="Courier New"/>
                <a:ea typeface="Courier New"/>
                <a:cs typeface="Courier New"/>
                <a:sym typeface="Courier New"/>
              </a:rPr>
              <a:t>kociemba.solve()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6638544" y="1463040"/>
            <a:ext cx="3108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6912864" y="1463040"/>
            <a:ext cx="1874520" cy="914400"/>
          </a:xfrm>
          <a:prstGeom prst="roundRect">
            <a:avLst>
              <a:gd fmla="val 7000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6912864" y="1463040"/>
            <a:ext cx="1874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Solution ≤ 20 mouvements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R U R' F2 …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548640" y="2743200"/>
            <a:ext cx="8092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Algorithme « two-phase » de Herbert Kociemba — tables précalculées embarquées localement (dossier twophase/), aucun service externe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1100"/>
              </a:spcBef>
              <a:spcAft>
                <a:spcPts val="0"/>
              </a:spcAft>
              <a:buClr>
                <a:srgbClr val="20203A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La solution est envoyée au Pico via Bluetooth (MOVE:…) puis exécutée mouvement par mouvement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1100"/>
              </a:spcBef>
              <a:spcAft>
                <a:spcPts val="0"/>
              </a:spcAft>
              <a:buClr>
                <a:srgbClr val="20203A"/>
              </a:buClr>
              <a:buSzPts val="1350"/>
              <a:buFont typeface="Calibri"/>
              <a:buChar char="▪"/>
            </a:pPr>
            <a:r>
              <a:rPr b="0" i="0" lang="en-US" sz="13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Après chaque étape : PROG:i/total → barre de progression + simulation en direct sur le CubeView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2331720" y="4206240"/>
            <a:ext cx="4480560" cy="548640"/>
          </a:xfrm>
          <a:prstGeom prst="roundRect">
            <a:avLst>
              <a:gd fmla="val 11667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2331720" y="420624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Résolution physique complète : </a:t>
            </a:r>
            <a:r>
              <a:rPr b="1" i="0" lang="en-US" sz="1400" u="none" cap="none" strike="noStrike">
                <a:solidFill>
                  <a:srgbClr val="009B48"/>
                </a:solidFill>
                <a:latin typeface="Calibri"/>
                <a:ea typeface="Calibri"/>
                <a:cs typeface="Calibri"/>
                <a:sym typeface="Calibri"/>
              </a:rPr>
              <a:t>≈ 20 secondes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6"/>
          <p:cNvSpPr/>
          <p:nvPr/>
        </p:nvSpPr>
        <p:spPr>
          <a:xfrm>
            <a:off x="502920" y="292608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1E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41E3A"/>
                </a:solidFill>
                <a:latin typeface="Calibri"/>
                <a:ea typeface="Calibri"/>
                <a:cs typeface="Calibri"/>
                <a:sym typeface="Calibri"/>
              </a:rPr>
              <a:t>RETOUR D'EXPÉRIENCE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502920" y="530352"/>
            <a:ext cx="7315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0203A"/>
                </a:solidFill>
                <a:latin typeface="Cambria"/>
                <a:ea typeface="Cambria"/>
                <a:cs typeface="Cambria"/>
                <a:sym typeface="Cambria"/>
              </a:rPr>
              <a:t>Difficultés rencontrées &amp; solutions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8183880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6"/>
          <p:cNvSpPr/>
          <p:nvPr/>
        </p:nvSpPr>
        <p:spPr>
          <a:xfrm>
            <a:off x="8371332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6"/>
          <p:cNvSpPr/>
          <p:nvPr/>
        </p:nvSpPr>
        <p:spPr>
          <a:xfrm>
            <a:off x="8558784" y="347472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6"/>
          <p:cNvSpPr/>
          <p:nvPr/>
        </p:nvSpPr>
        <p:spPr>
          <a:xfrm>
            <a:off x="8183880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6"/>
          <p:cNvSpPr/>
          <p:nvPr/>
        </p:nvSpPr>
        <p:spPr>
          <a:xfrm>
            <a:off x="8371332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8558784" y="534924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6"/>
          <p:cNvSpPr/>
          <p:nvPr/>
        </p:nvSpPr>
        <p:spPr>
          <a:xfrm>
            <a:off x="8183880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6"/>
          <p:cNvSpPr/>
          <p:nvPr/>
        </p:nvSpPr>
        <p:spPr>
          <a:xfrm>
            <a:off x="8371332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6"/>
          <p:cNvSpPr/>
          <p:nvPr/>
        </p:nvSpPr>
        <p:spPr>
          <a:xfrm>
            <a:off x="8558784" y="722376"/>
            <a:ext cx="146304" cy="146304"/>
          </a:xfrm>
          <a:prstGeom prst="roundRect">
            <a:avLst>
              <a:gd fmla="val 12500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Rubik's Cube Solver — Groupe B02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502920" y="1325880"/>
            <a:ext cx="3977700" cy="1024200"/>
          </a:xfrm>
          <a:prstGeom prst="roundRect">
            <a:avLst>
              <a:gd fmla="val 6250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6"/>
          <p:cNvSpPr/>
          <p:nvPr/>
        </p:nvSpPr>
        <p:spPr>
          <a:xfrm>
            <a:off x="667512" y="1472184"/>
            <a:ext cx="128100" cy="128100"/>
          </a:xfrm>
          <a:prstGeom prst="ellipse">
            <a:avLst/>
          </a:prstGeom>
          <a:solidFill>
            <a:srgbClr val="FF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6"/>
          <p:cNvSpPr/>
          <p:nvPr/>
        </p:nvSpPr>
        <p:spPr>
          <a:xfrm>
            <a:off x="905256" y="1399032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Précision des servos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905256" y="169164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Calibrage individuel par bras (ROT_CENTER, GRIP_HOLD)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4663440" y="1325880"/>
            <a:ext cx="3977700" cy="1024200"/>
          </a:xfrm>
          <a:prstGeom prst="roundRect">
            <a:avLst>
              <a:gd fmla="val 6250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6"/>
          <p:cNvSpPr/>
          <p:nvPr/>
        </p:nvSpPr>
        <p:spPr>
          <a:xfrm>
            <a:off x="4828032" y="1472184"/>
            <a:ext cx="128100" cy="12810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6"/>
          <p:cNvSpPr/>
          <p:nvPr/>
        </p:nvSpPr>
        <p:spPr>
          <a:xfrm>
            <a:off x="5065776" y="1399032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Confusion orange / rouge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5065776" y="169164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Orange testé avant le rouge + fallback par distance circulaire sur 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502920" y="2496312"/>
            <a:ext cx="3977700" cy="1024200"/>
          </a:xfrm>
          <a:prstGeom prst="roundRect">
            <a:avLst>
              <a:gd fmla="val 6250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6"/>
          <p:cNvSpPr/>
          <p:nvPr/>
        </p:nvSpPr>
        <p:spPr>
          <a:xfrm>
            <a:off x="667512" y="2642616"/>
            <a:ext cx="128100" cy="128100"/>
          </a:xfrm>
          <a:prstGeom prst="ellipse">
            <a:avLst/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6"/>
          <p:cNvSpPr/>
          <p:nvPr/>
        </p:nvSpPr>
        <p:spPr>
          <a:xfrm>
            <a:off x="905256" y="2560314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Détection couleur instable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905256" y="2862072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Vote majoritaire sur 7 captures au lieu d'un seuil fixe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4663440" y="2496312"/>
            <a:ext cx="3977700" cy="1024200"/>
          </a:xfrm>
          <a:prstGeom prst="roundRect">
            <a:avLst>
              <a:gd fmla="val 6250" name="adj"/>
            </a:avLst>
          </a:prstGeom>
          <a:solidFill>
            <a:srgbClr val="F3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6"/>
          <p:cNvSpPr/>
          <p:nvPr/>
        </p:nvSpPr>
        <p:spPr>
          <a:xfrm>
            <a:off x="4828032" y="2642616"/>
            <a:ext cx="128100" cy="128100"/>
          </a:xfrm>
          <a:prstGeom prst="ellipse">
            <a:avLst/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"/>
          <p:cNvSpPr/>
          <p:nvPr/>
        </p:nvSpPr>
        <p:spPr>
          <a:xfrm>
            <a:off x="5065776" y="2569464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03A"/>
                </a:solidFill>
                <a:latin typeface="Calibri"/>
                <a:ea typeface="Calibri"/>
                <a:cs typeface="Calibri"/>
                <a:sym typeface="Calibri"/>
              </a:rPr>
              <a:t>Bruit du HC-05 (« OK\r\n »)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5065776" y="2862072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Recherche du pattern START: dans le flux, buffer 512 octets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imgs/p09_i0.png" id="400" name="Google Shape;4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7880" y="0"/>
            <a:ext cx="32461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7"/>
          <p:cNvSpPr/>
          <p:nvPr/>
        </p:nvSpPr>
        <p:spPr>
          <a:xfrm>
            <a:off x="5897880" y="0"/>
            <a:ext cx="3246120" cy="5143500"/>
          </a:xfrm>
          <a:prstGeom prst="rect">
            <a:avLst/>
          </a:prstGeom>
          <a:solidFill>
            <a:srgbClr val="1A1A2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7"/>
          <p:cNvSpPr/>
          <p:nvPr/>
        </p:nvSpPr>
        <p:spPr>
          <a:xfrm>
            <a:off x="548640" y="457200"/>
            <a:ext cx="164592" cy="164592"/>
          </a:xfrm>
          <a:prstGeom prst="roundRect">
            <a:avLst>
              <a:gd fmla="val 11111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7"/>
          <p:cNvSpPr/>
          <p:nvPr/>
        </p:nvSpPr>
        <p:spPr>
          <a:xfrm>
            <a:off x="758952" y="457200"/>
            <a:ext cx="164592" cy="164592"/>
          </a:xfrm>
          <a:prstGeom prst="roundRect">
            <a:avLst>
              <a:gd fmla="val 11111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7"/>
          <p:cNvSpPr/>
          <p:nvPr/>
        </p:nvSpPr>
        <p:spPr>
          <a:xfrm>
            <a:off x="969264" y="457200"/>
            <a:ext cx="164592" cy="164592"/>
          </a:xfrm>
          <a:prstGeom prst="roundRect">
            <a:avLst>
              <a:gd fmla="val 11111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7"/>
          <p:cNvSpPr/>
          <p:nvPr/>
        </p:nvSpPr>
        <p:spPr>
          <a:xfrm>
            <a:off x="548640" y="667512"/>
            <a:ext cx="164592" cy="164592"/>
          </a:xfrm>
          <a:prstGeom prst="roundRect">
            <a:avLst>
              <a:gd fmla="val 11111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7"/>
          <p:cNvSpPr/>
          <p:nvPr/>
        </p:nvSpPr>
        <p:spPr>
          <a:xfrm>
            <a:off x="758952" y="667512"/>
            <a:ext cx="164592" cy="164592"/>
          </a:xfrm>
          <a:prstGeom prst="roundRect">
            <a:avLst>
              <a:gd fmla="val 11111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7"/>
          <p:cNvSpPr/>
          <p:nvPr/>
        </p:nvSpPr>
        <p:spPr>
          <a:xfrm>
            <a:off x="969264" y="667512"/>
            <a:ext cx="164592" cy="164592"/>
          </a:xfrm>
          <a:prstGeom prst="roundRect">
            <a:avLst>
              <a:gd fmla="val 11111" name="adj"/>
            </a:avLst>
          </a:prstGeom>
          <a:solidFill>
            <a:srgbClr val="009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7"/>
          <p:cNvSpPr/>
          <p:nvPr/>
        </p:nvSpPr>
        <p:spPr>
          <a:xfrm>
            <a:off x="548640" y="877824"/>
            <a:ext cx="164592" cy="164592"/>
          </a:xfrm>
          <a:prstGeom prst="roundRect">
            <a:avLst>
              <a:gd fmla="val 11111" name="adj"/>
            </a:avLst>
          </a:prstGeom>
          <a:solidFill>
            <a:srgbClr val="FFD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7"/>
          <p:cNvSpPr/>
          <p:nvPr/>
        </p:nvSpPr>
        <p:spPr>
          <a:xfrm>
            <a:off x="758952" y="877824"/>
            <a:ext cx="164592" cy="164592"/>
          </a:xfrm>
          <a:prstGeom prst="roundRect">
            <a:avLst>
              <a:gd fmla="val 11111" name="adj"/>
            </a:avLst>
          </a:prstGeom>
          <a:solidFill>
            <a:srgbClr val="0051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7"/>
          <p:cNvSpPr/>
          <p:nvPr/>
        </p:nvSpPr>
        <p:spPr>
          <a:xfrm>
            <a:off x="969264" y="877824"/>
            <a:ext cx="164592" cy="164592"/>
          </a:xfrm>
          <a:prstGeom prst="roundRect">
            <a:avLst>
              <a:gd fmla="val 11111" name="adj"/>
            </a:avLst>
          </a:prstGeom>
          <a:solidFill>
            <a:srgbClr val="C41E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7"/>
          <p:cNvSpPr/>
          <p:nvPr/>
        </p:nvSpPr>
        <p:spPr>
          <a:xfrm>
            <a:off x="548640" y="118872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525840" y="2275435"/>
            <a:ext cx="5074800" cy="713100"/>
          </a:xfrm>
          <a:prstGeom prst="roundRect">
            <a:avLst>
              <a:gd fmla="val 8974" name="adj"/>
            </a:avLst>
          </a:prstGeom>
          <a:solidFill>
            <a:srgbClr val="232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7"/>
          <p:cNvSpPr/>
          <p:nvPr/>
        </p:nvSpPr>
        <p:spPr>
          <a:xfrm>
            <a:off x="754440" y="2330299"/>
            <a:ext cx="4663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D500"/>
                </a:solidFill>
                <a:latin typeface="Calibri"/>
                <a:ea typeface="Calibri"/>
                <a:cs typeface="Calibri"/>
                <a:sym typeface="Calibri"/>
              </a:rPr>
              <a:t>Objectif atteint  —  </a:t>
            </a:r>
            <a:r>
              <a:rPr b="0" i="0" lang="en-US" sz="1250" u="none" cap="none" strike="noStrike">
                <a:solidFill>
                  <a:srgbClr val="DADAEE"/>
                </a:solidFill>
                <a:latin typeface="Calibri"/>
                <a:ea typeface="Calibri"/>
                <a:cs typeface="Calibri"/>
                <a:sym typeface="Calibri"/>
              </a:rPr>
              <a:t>un robot 100 % autonome : scan → calcul → exécution en ≈ 20 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571562" y="3322279"/>
            <a:ext cx="507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B48"/>
              </a:buClr>
              <a:buSzPts val="1900"/>
              <a:buFont typeface="Cambria"/>
              <a:buNone/>
            </a:pPr>
            <a:r>
              <a:rPr b="1" i="1" lang="en-US" sz="3300" u="none" cap="none" strike="noStrike">
                <a:solidFill>
                  <a:srgbClr val="009B48"/>
                </a:solidFill>
                <a:latin typeface="Cambria"/>
                <a:ea typeface="Cambria"/>
                <a:cs typeface="Cambria"/>
                <a:sym typeface="Cambria"/>
              </a:rPr>
              <a:t>Place à la démonstration !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